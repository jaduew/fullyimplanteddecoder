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97" r:id="rId4"/>
    <p:sldId id="346" r:id="rId5"/>
    <p:sldId id="367" r:id="rId6"/>
    <p:sldId id="368" r:id="rId7"/>
    <p:sldId id="369" r:id="rId8"/>
    <p:sldId id="370" r:id="rId9"/>
    <p:sldId id="371" r:id="rId10"/>
    <p:sldId id="372" r:id="rId11"/>
    <p:sldId id="355" r:id="rId12"/>
    <p:sldId id="351" r:id="rId13"/>
  </p:sldIdLst>
  <p:sldSz cx="9144000" cy="5143500" type="screen16x9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8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69350121@qq.com" initials="4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3AA"/>
    <a:srgbClr val="A3C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97" autoAdjust="0"/>
    <p:restoredTop sz="95232" autoAdjust="0"/>
  </p:normalViewPr>
  <p:slideViewPr>
    <p:cSldViewPr showGuides="1">
      <p:cViewPr varScale="1">
        <p:scale>
          <a:sx n="89" d="100"/>
          <a:sy n="89" d="100"/>
        </p:scale>
        <p:origin x="572" y="52"/>
      </p:cViewPr>
      <p:guideLst>
        <p:guide orient="horz" pos="1618"/>
        <p:guide pos="287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13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CFF1E-BFDD-465C-80DB-A25AE1D6DA4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CC8FB-D478-447D-8AE6-5432F59592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D5681-159A-417D-8BF0-45C4F09DE6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76584-3D58-4C93-BDEA-A42D0C4747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313508" y="188913"/>
            <a:ext cx="8506963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文本占位符 2"/>
          <p:cNvSpPr>
            <a:spLocks noGrp="1"/>
          </p:cNvSpPr>
          <p:nvPr>
            <p:ph idx="1"/>
          </p:nvPr>
        </p:nvSpPr>
        <p:spPr>
          <a:xfrm>
            <a:off x="313509" y="798326"/>
            <a:ext cx="8496944" cy="38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矩形 1"/>
          <p:cNvSpPr>
            <a:spLocks noChangeArrowheads="1"/>
          </p:cNvSpPr>
          <p:nvPr userDrawn="1"/>
        </p:nvSpPr>
        <p:spPr bwMode="auto">
          <a:xfrm>
            <a:off x="0" y="188913"/>
            <a:ext cx="179512" cy="463550"/>
          </a:xfrm>
          <a:prstGeom prst="rect">
            <a:avLst/>
          </a:prstGeom>
          <a:solidFill>
            <a:srgbClr val="00D3A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7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835" y="271409"/>
            <a:ext cx="2943636" cy="3810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313508" y="188913"/>
            <a:ext cx="8506963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文本占位符 2"/>
          <p:cNvSpPr>
            <a:spLocks noGrp="1"/>
          </p:cNvSpPr>
          <p:nvPr>
            <p:ph idx="1"/>
          </p:nvPr>
        </p:nvSpPr>
        <p:spPr>
          <a:xfrm>
            <a:off x="313509" y="798326"/>
            <a:ext cx="4186483" cy="38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defRPr/>
            </a:lvl1pPr>
            <a:lvl2pPr marL="342900" marR="0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defRPr/>
            </a:lvl2pPr>
            <a:lvl3pPr marL="513080" marR="0" indent="-2286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p"/>
              <a:defRPr/>
            </a:lvl3pPr>
            <a:lvl4pPr marL="914400" marR="0" indent="-28448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ü"/>
              <a:defRPr/>
            </a:lvl4pPr>
            <a:lvl5pPr marL="914400" marR="0" indent="-28448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u"/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单击此处编辑母版文本样式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513080" marR="0" lvl="2" indent="-2286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marR="0" lvl="3" indent="-28448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marR="0" lvl="4" indent="-28448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"/>
          <p:cNvSpPr>
            <a:spLocks noChangeArrowheads="1"/>
          </p:cNvSpPr>
          <p:nvPr userDrawn="1"/>
        </p:nvSpPr>
        <p:spPr bwMode="auto">
          <a:xfrm>
            <a:off x="0" y="188913"/>
            <a:ext cx="179512" cy="463550"/>
          </a:xfrm>
          <a:prstGeom prst="rect">
            <a:avLst/>
          </a:prstGeom>
          <a:solidFill>
            <a:srgbClr val="00D3A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5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835" y="271409"/>
            <a:ext cx="2943636" cy="381053"/>
          </a:xfrm>
          <a:prstGeom prst="rect">
            <a:avLst/>
          </a:prstGeom>
        </p:spPr>
      </p:pic>
      <p:sp>
        <p:nvSpPr>
          <p:cNvPr id="16" name="文本占位符 2"/>
          <p:cNvSpPr>
            <a:spLocks noGrp="1"/>
          </p:cNvSpPr>
          <p:nvPr>
            <p:ph idx="13"/>
          </p:nvPr>
        </p:nvSpPr>
        <p:spPr>
          <a:xfrm>
            <a:off x="4648915" y="798326"/>
            <a:ext cx="4186483" cy="3823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defRPr/>
            </a:lvl1pPr>
            <a:lvl2pPr marL="342900" marR="0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defRPr/>
            </a:lvl2pPr>
            <a:lvl3pPr marL="513080" marR="0" indent="-2286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p"/>
              <a:defRPr/>
            </a:lvl3pPr>
            <a:lvl4pPr marL="914400" marR="0" indent="-28448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ü"/>
              <a:defRPr/>
            </a:lvl4pPr>
            <a:lvl5pPr marL="629920" marR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单击此处编辑母版文本样式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513080" marR="0" lvl="2" indent="-22860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marR="0" lvl="3" indent="-28448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marR="0" lvl="4" indent="-28448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13509" y="798326"/>
            <a:ext cx="8496944" cy="38230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1714" y="737727"/>
            <a:ext cx="4153137" cy="3894997"/>
          </a:xfrm>
          <a:prstGeom prst="rect">
            <a:avLst/>
          </a:prstGeo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737727"/>
            <a:ext cx="4153863" cy="3894996"/>
          </a:xfrm>
          <a:prstGeom prst="rect">
            <a:avLst/>
          </a:prstGeo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13509" y="188913"/>
            <a:ext cx="8496944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3509" y="798326"/>
            <a:ext cx="8496944" cy="38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marL="0" algn="l" defTabSz="914400" rtl="0" eaLnBrk="1" latinLnBrk="0" hangingPunct="1">
        <a:spcBef>
          <a:spcPct val="0"/>
        </a:spcBef>
        <a:buNone/>
        <a:defRPr lang="zh-CN" altLang="en-US" sz="2400" b="1" kern="1200" dirty="0">
          <a:solidFill>
            <a:srgbClr val="00D3AA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342900" indent="-342900" algn="l" defTabSz="914400" rtl="0" eaLnBrk="1" latinLnBrk="0" hangingPunct="1">
        <a:lnSpc>
          <a:spcPct val="15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342900" indent="-342900" algn="l" defTabSz="914400" rtl="0" eaLnBrk="1" latinLnBrk="0" hangingPunct="1">
        <a:lnSpc>
          <a:spcPct val="15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513080" indent="-228600" algn="l" defTabSz="914400" rtl="0" eaLnBrk="1" latinLnBrk="0" hangingPunct="1">
        <a:lnSpc>
          <a:spcPct val="15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914400" indent="-284480" algn="l" defTabSz="914400" rtl="0" eaLnBrk="1" latinLnBrk="0" hangingPunct="1">
        <a:lnSpc>
          <a:spcPct val="15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ü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914400" indent="-284480" algn="l" defTabSz="914400" rtl="0" eaLnBrk="1" latinLnBrk="0" hangingPunct="1">
        <a:lnSpc>
          <a:spcPct val="15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u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39652" y="3003798"/>
            <a:ext cx="626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智能止鼾助眠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轻医疗大数据平台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95736" y="1347614"/>
            <a:ext cx="4680520" cy="1440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</a:rPr>
              <a:t>中频电疗仪药方</a:t>
            </a:r>
            <a:r>
              <a:rPr lang="zh-CN" altLang="en-US" sz="3600" dirty="0">
                <a:solidFill>
                  <a:schemeClr val="tx1"/>
                </a:solidFill>
              </a:rPr>
              <a:t>说明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dirty="0"/>
              <a:t>正弦</a:t>
            </a:r>
            <a:r>
              <a:rPr lang="zh-CN" altLang="en-US" dirty="0"/>
              <a:t>波</a:t>
            </a:r>
            <a:r>
              <a:rPr lang="en-US" altLang="zh-CN" dirty="0"/>
              <a:t>                                                  </a:t>
            </a:r>
            <a:endParaRPr lang="en-US" altLang="zh-CN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899592" y="4083918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正</a:t>
            </a:r>
            <a:r>
              <a:rPr lang="zh-CN" altLang="en-US" dirty="0">
                <a:solidFill>
                  <a:srgbClr val="FF0000"/>
                </a:solidFill>
              </a:rPr>
              <a:t>弦波：主频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9" name="图片 8" descr="微信图片_202402041135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669290"/>
            <a:ext cx="4872990" cy="3653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lang="zh-CN" altLang="en-US" dirty="0"/>
              <a:t>方波</a:t>
            </a:r>
            <a:endParaRPr lang="zh-CN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23256" y="4202981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方波：主频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 descr="微信图片_202402041136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699770"/>
            <a:ext cx="4834890" cy="3625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dirty="0"/>
              <a:t>三角</a:t>
            </a:r>
            <a:r>
              <a:rPr lang="zh-CN" altLang="en-US" dirty="0"/>
              <a:t>波</a:t>
            </a:r>
            <a:endParaRPr lang="zh-CN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23256" y="4202981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三角波：主频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 descr="微信图片_202402041136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771525"/>
            <a:ext cx="4762500" cy="3571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dirty="0"/>
              <a:t>尖</a:t>
            </a:r>
            <a:r>
              <a:rPr lang="zh-CN" altLang="en-US" dirty="0"/>
              <a:t>波</a:t>
            </a:r>
            <a:endParaRPr lang="zh-CN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23256" y="4202981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尖波：主频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 descr="微信图片_20240204121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080" y="652780"/>
            <a:ext cx="4983480" cy="3736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dirty="0"/>
              <a:t>梯形</a:t>
            </a:r>
            <a:r>
              <a:rPr lang="zh-CN" altLang="en-US" dirty="0"/>
              <a:t>波</a:t>
            </a:r>
            <a:endParaRPr lang="zh-CN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23256" y="4202981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梯形波：主频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 descr="微信图片_20240204113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315" y="749300"/>
            <a:ext cx="4860925" cy="3644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dirty="0"/>
              <a:t>锯齿形</a:t>
            </a:r>
            <a:r>
              <a:rPr lang="zh-CN" altLang="en-US" dirty="0"/>
              <a:t>波</a:t>
            </a:r>
            <a:endParaRPr lang="zh-CN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23256" y="4202981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锯齿形波：主频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 descr="微信图片_202402041136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652145"/>
            <a:ext cx="5067300" cy="3799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dirty="0"/>
              <a:t>指数形</a:t>
            </a:r>
            <a:r>
              <a:rPr lang="zh-CN" altLang="en-US" dirty="0"/>
              <a:t>波</a:t>
            </a:r>
            <a:endParaRPr lang="zh-CN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23256" y="4202981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指数形波：主频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 descr="微信图片_202402041138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652780"/>
            <a:ext cx="4906645" cy="3679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zh-CN" altLang="en-US" dirty="0"/>
              <a:t>波形</a:t>
            </a:r>
            <a:r>
              <a:rPr lang="en-US" altLang="zh-CN" dirty="0"/>
              <a:t>-</a:t>
            </a:r>
            <a:r>
              <a:rPr dirty="0"/>
              <a:t>扇形</a:t>
            </a:r>
            <a:r>
              <a:rPr lang="zh-CN" altLang="en-US" dirty="0"/>
              <a:t>波</a:t>
            </a:r>
            <a:endParaRPr lang="zh-CN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23256" y="4202981"/>
            <a:ext cx="6696744" cy="870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扇形波：主频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dirty="0">
                <a:solidFill>
                  <a:srgbClr val="FF0000"/>
                </a:solidFill>
              </a:rPr>
              <a:t>KHz, </a:t>
            </a:r>
            <a:r>
              <a:rPr lang="zh-CN" altLang="en-US" dirty="0">
                <a:solidFill>
                  <a:srgbClr val="FF0000"/>
                </a:solidFill>
              </a:rPr>
              <a:t>频宽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00us, 20</a:t>
            </a:r>
            <a:r>
              <a:rPr lang="zh-CN" altLang="en-US" dirty="0">
                <a:solidFill>
                  <a:srgbClr val="FF0000"/>
                </a:solidFill>
              </a:rPr>
              <a:t>个为一簇，占空比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 descr="微信图片_20240204113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335" y="677545"/>
            <a:ext cx="4919345" cy="3688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zh-CN" altLang="en-US" dirty="0"/>
              <a:t>处方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CA77D63-EC92-4ABB-83D3-79AA0CB4A3E5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0290" y="44450"/>
          <a:ext cx="7258685" cy="5049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285"/>
                <a:gridCol w="658495"/>
                <a:gridCol w="904875"/>
                <a:gridCol w="742315"/>
                <a:gridCol w="1563370"/>
                <a:gridCol w="925195"/>
                <a:gridCol w="658495"/>
                <a:gridCol w="1303655"/>
              </a:tblGrid>
              <a:tr h="3898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处方号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波形占空</a:t>
                      </a:r>
                      <a:r>
                        <a:rPr lang="zh-CN" altLang="en-US" sz="1000" b="1" u="none" strike="noStrike" dirty="0">
                          <a:effectLst/>
                        </a:rPr>
                        <a:t>比</a:t>
                      </a:r>
                      <a:endParaRPr lang="zh-CN" altLang="en-US" sz="1000" b="1" u="none" strike="noStrike" dirty="0">
                        <a:effectLst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工作频率</a:t>
                      </a:r>
                      <a:r>
                        <a:rPr lang="en-US" sz="1000" b="1" u="none" strike="noStrike" dirty="0" err="1">
                          <a:effectLst/>
                        </a:rPr>
                        <a:t>KHz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调制频率</a:t>
                      </a:r>
                      <a:r>
                        <a:rPr lang="en-US" sz="1000" b="1" u="none" strike="noStrike" dirty="0">
                          <a:effectLst/>
                        </a:rPr>
                        <a:t>Hz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调制波形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治疗时间</a:t>
                      </a:r>
                      <a:r>
                        <a:rPr lang="en-US" sz="1000" b="1" u="none" strike="noStrike">
                          <a:effectLst/>
                        </a:rPr>
                        <a:t>Min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必要性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主要功效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7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：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>
                          <a:effectLst/>
                          <a:sym typeface="+mn-ea"/>
                        </a:rPr>
                        <a:t>正弦波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可选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1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 fontAlgn="ctr">
                        <a:buNone/>
                      </a:pP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000" dirty="0">
                          <a:effectLst/>
                          <a:sym typeface="+mn-ea"/>
                        </a:rPr>
                        <a:t>方波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可选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1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000" dirty="0">
                          <a:effectLst/>
                          <a:sym typeface="+mn-ea"/>
                        </a:rPr>
                        <a:t>三角波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可选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7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尖波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可选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7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梯形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波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必须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dirty="0">
                          <a:effectLst/>
                          <a:sym typeface="+mn-ea"/>
                        </a:rPr>
                        <a:t>消炎消肿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1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锯齿波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可选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>
                          <a:effectLst/>
                          <a:sym typeface="+mn-ea"/>
                        </a:rPr>
                        <a:t>指数波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可选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7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扇形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波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effectLst/>
                          <a:sym typeface="+mn-ea"/>
                        </a:rPr>
                        <a:t>可选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>
                          <a:effectLst/>
                          <a:sym typeface="+mn-ea"/>
                        </a:rPr>
                        <a:t>正弦波、指数波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必须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软化瘢痕松解粘连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>
                          <a:effectLst/>
                          <a:sym typeface="+mn-ea"/>
                        </a:rPr>
                        <a:t>指数波、方波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必须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锻炼肌肉</a:t>
                      </a:r>
                      <a:r>
                        <a:rPr lang="zh-CN" altLang="en-US" sz="1000" u="none" strike="noStrike">
                          <a:effectLst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7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11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dirty="0">
                          <a:effectLst/>
                          <a:sym typeface="+mn-ea"/>
                        </a:rPr>
                        <a:t>方波、指数波、三角波</a:t>
                      </a:r>
                      <a:endParaRPr lang="zh-CN" altLang="en-US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必须</a:t>
                      </a:r>
                      <a:endParaRPr lang="zh-CN" altLang="en-US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dirty="0">
                          <a:effectLst/>
                          <a:sym typeface="+mn-ea"/>
                        </a:rPr>
                        <a:t>镇痛</a:t>
                      </a:r>
                      <a:r>
                        <a:rPr lang="zh-CN" altLang="en-US" sz="1000">
                          <a:effectLst/>
                          <a:sym typeface="+mn-ea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12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>
                          <a:effectLst/>
                          <a:sym typeface="+mn-ea"/>
                        </a:rPr>
                        <a:t>尖波、指数波、三角波</a:t>
                      </a:r>
                      <a:endParaRPr lang="zh-CN" altLang="en-US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必须</a:t>
                      </a:r>
                      <a:endParaRPr lang="zh-CN" altLang="en-US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兴奋神经肌肉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  <a:tr h="3587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13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：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23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>
                          <a:effectLst/>
                          <a:sym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>
                          <a:effectLst/>
                          <a:sym typeface="+mn-ea"/>
                        </a:rPr>
                        <a:t>正弦波、尖波、指数波、三角波、方波、锯齿波</a:t>
                      </a:r>
                      <a:endParaRPr lang="zh-CN" altLang="en-US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可选</a:t>
                      </a:r>
                      <a:endParaRPr lang="zh-CN" altLang="en-US" sz="1000" b="0" i="0" u="none" strike="noStrike">
                        <a:solidFill>
                          <a:srgbClr val="80808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>
                          <a:effectLst/>
                          <a:sym typeface="+mn-ea"/>
                        </a:rPr>
                        <a:t>消除运动疲劳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076" marR="9076" marT="9076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zh-CN" altLang="en-US" dirty="0"/>
              <a:t>处方需求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55576" y="652463"/>
            <a:ext cx="7416824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每个处方中所有波形按名称次序，每个波形跑</a:t>
            </a:r>
            <a:r>
              <a:rPr lang="en-US" altLang="zh-CN" dirty="0"/>
              <a:t>20</a:t>
            </a:r>
            <a:r>
              <a:rPr lang="zh-CN" altLang="en-US" dirty="0"/>
              <a:t>秒，切换下一个波形，</a:t>
            </a:r>
            <a:r>
              <a:rPr lang="en-US" altLang="zh-CN" dirty="0"/>
              <a:t>20</a:t>
            </a:r>
            <a:r>
              <a:rPr lang="zh-CN" altLang="en-US" dirty="0"/>
              <a:t>秒后再切换，往复循环，完成一个处方设定周期。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APP</a:t>
            </a:r>
            <a:r>
              <a:rPr lang="zh-CN" altLang="en-US" dirty="0"/>
              <a:t>连接设备，绑定，通过蓝牙保持与设备不间断联接。退出</a:t>
            </a:r>
            <a:r>
              <a:rPr lang="en-US" altLang="zh-CN" dirty="0"/>
              <a:t>APP</a:t>
            </a:r>
            <a:r>
              <a:rPr lang="zh-CN" altLang="en-US" dirty="0"/>
              <a:t>界面，蓝牙不断开，处方不停止。</a:t>
            </a:r>
            <a:r>
              <a:rPr lang="en-US" altLang="zh-CN" dirty="0"/>
              <a:t>APP</a:t>
            </a:r>
            <a:r>
              <a:rPr lang="zh-CN" altLang="en-US" dirty="0"/>
              <a:t>进程被杀，或蓝牙物理断开，或</a:t>
            </a:r>
            <a:r>
              <a:rPr lang="en-US" altLang="zh-CN" dirty="0"/>
              <a:t>APP</a:t>
            </a:r>
            <a:r>
              <a:rPr lang="zh-CN" altLang="en-US" dirty="0"/>
              <a:t>端停止处方，处方停止。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</a:t>
            </a:r>
            <a:r>
              <a:rPr lang="en-US" altLang="zh-CN" dirty="0"/>
              <a:t>APP</a:t>
            </a:r>
            <a:r>
              <a:rPr lang="zh-CN" altLang="en-US" dirty="0"/>
              <a:t>选处方，对设备进行升降档，设定时长。强制先选处方，选定处方后可选择强度，处方开始前进行中随时可以增加或降低强度；所有处方最大时长均为</a:t>
            </a:r>
            <a:r>
              <a:rPr lang="en-US" altLang="zh-CN" dirty="0"/>
              <a:t>3</a:t>
            </a:r>
            <a:r>
              <a:rPr lang="en-US" altLang="zh-CN" dirty="0"/>
              <a:t>0</a:t>
            </a:r>
            <a:r>
              <a:rPr lang="zh-CN" altLang="en-US" dirty="0"/>
              <a:t>分钟。配对前，</a:t>
            </a:r>
            <a:r>
              <a:rPr lang="en-US" altLang="zh-CN" dirty="0"/>
              <a:t>APP</a:t>
            </a:r>
            <a:r>
              <a:rPr lang="zh-CN" altLang="en-US" dirty="0"/>
              <a:t>有搜索，配对功能，配对后有开始，停止，强度增，强度减，处方选择功能，以及断开联接功能。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也可通过按键</a:t>
            </a:r>
            <a:r>
              <a:rPr lang="en-US" altLang="zh-CN" dirty="0"/>
              <a:t>,</a:t>
            </a:r>
            <a:r>
              <a:rPr lang="zh-CN" altLang="en-US" dirty="0"/>
              <a:t>屏控制，强度每次升降以</a:t>
            </a:r>
            <a:r>
              <a:rPr lang="en-US" altLang="zh-CN" dirty="0"/>
              <a:t>1V </a:t>
            </a:r>
            <a:r>
              <a:rPr lang="zh-CN" altLang="en-US" dirty="0"/>
              <a:t>（</a:t>
            </a:r>
            <a:r>
              <a:rPr lang="en-US" altLang="zh-CN" dirty="0"/>
              <a:t>RMS</a:t>
            </a:r>
            <a:r>
              <a:rPr lang="zh-CN" altLang="en-US" dirty="0"/>
              <a:t>）为限；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蓝牙断开时处方停止；停止后处方需要重新设定，原进行中的处方取消。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71*397"/>
  <p:tag name="TABLE_ENDDRAG_RECT" val="82*3*571*397"/>
</p:tagLst>
</file>

<file path=ppt/tags/tag2.xml><?xml version="1.0" encoding="utf-8"?>
<p:tagLst xmlns:p="http://schemas.openxmlformats.org/presentationml/2006/main">
  <p:tag name="commondata" val="eyJoZGlkIjoiOTA2N2NkZTFmZTkzY2M4NGQ3ZjhmZWI5OGUxZTljMT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WPS 演示</Application>
  <PresentationFormat>全屏显示(16:9)</PresentationFormat>
  <Paragraphs>281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Office 主题​​</vt:lpstr>
      <vt:lpstr>PowerPoint 演示文稿</vt:lpstr>
      <vt:lpstr>波形-正弦波                                                  </vt:lpstr>
      <vt:lpstr>波形-方波</vt:lpstr>
      <vt:lpstr>波形-三角波</vt:lpstr>
      <vt:lpstr>波形-尖波</vt:lpstr>
      <vt:lpstr>波形-梯形波</vt:lpstr>
      <vt:lpstr>波形-锯齿形波</vt:lpstr>
      <vt:lpstr>波形-指数形波</vt:lpstr>
      <vt:lpstr>波形-扇形波</vt:lpstr>
      <vt:lpstr>处方</vt:lpstr>
      <vt:lpstr>处方需求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san.wang</dc:creator>
  <cp:lastModifiedBy>WPS_1599232603</cp:lastModifiedBy>
  <cp:revision>373</cp:revision>
  <dcterms:created xsi:type="dcterms:W3CDTF">2018-03-16T09:57:00Z</dcterms:created>
  <dcterms:modified xsi:type="dcterms:W3CDTF">2025-11-28T10:39:24Z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9F9A4DAB04A2497481CE808D1499BF3A_12</vt:lpwstr>
  </property>
</Properties>
</file>